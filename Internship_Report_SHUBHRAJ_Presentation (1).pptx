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 id="258" r:id="rId9"/>
    <p:sldId id="259" r:id="rId10"/>
    <p:sldId id="260" r:id="rId11"/>
    <p:sldId id="261" r:id="rId12"/>
    <p:sldId id="262" r:id="rId13"/>
    <p:sldId id="263"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78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457200"/>
            <a:ext cx="11247120" cy="5943600"/>
          </a:xfrm>
          <a:prstGeom prst="rect">
            <a:avLst/>
          </a:prstGeom>
          <a:ln w="15875">
            <a:solidFill>
              <a:srgbClr val="CADCFC"/>
            </a:solidFill>
            <a:prstDash val="solid"/>
          </a:ln>
        </p:spPr>
        <p:txBody>
          <a:bodyPr/>
          <a:lstStyle/>
          <a:p>
            <a:endParaRPr lang="en-IN"/>
          </a:p>
        </p:txBody>
      </p:sp>
      <p:pic>
        <p:nvPicPr>
          <p:cNvPr id="3" name="Image 0" descr="assets/logo.png"/>
          <p:cNvPicPr>
            <a:picLocks noChangeAspect="1"/>
          </p:cNvPicPr>
          <p:nvPr/>
        </p:nvPicPr>
        <p:blipFill>
          <a:blip r:embed="rId3"/>
          <a:stretch>
            <a:fillRect/>
          </a:stretch>
        </p:blipFill>
        <p:spPr>
          <a:xfrm>
            <a:off x="5440680" y="868680"/>
            <a:ext cx="1280160" cy="1243584"/>
          </a:xfrm>
          <a:prstGeom prst="rect">
            <a:avLst/>
          </a:prstGeom>
        </p:spPr>
      </p:pic>
      <p:sp>
        <p:nvSpPr>
          <p:cNvPr id="4" name="Text 1"/>
          <p:cNvSpPr txBox="1"/>
          <p:nvPr/>
        </p:nvSpPr>
        <p:spPr>
          <a:xfrm>
            <a:off x="914400" y="2240280"/>
            <a:ext cx="10332720" cy="502920"/>
          </a:xfrm>
          <a:prstGeom prst="rect">
            <a:avLst/>
          </a:prstGeom>
          <a:noFill/>
          <a:ln/>
        </p:spPr>
        <p:txBody>
          <a:bodyPr wrap="square" lIns="0" tIns="0" rIns="0" bIns="0" rtlCol="0" anchor="ctr"/>
          <a:lstStyle/>
          <a:p>
            <a:pPr marL="0" indent="0" algn="ctr">
              <a:buNone/>
            </a:pPr>
            <a:r>
              <a:rPr lang="en-US" sz="2800" b="1" kern="0" spc="200" dirty="0">
                <a:solidFill>
                  <a:srgbClr val="FFFFFF"/>
                </a:solidFill>
                <a:latin typeface="Cambria" pitchFamily="34" charset="0"/>
                <a:ea typeface="Cambria" pitchFamily="34" charset="-122"/>
                <a:cs typeface="Cambria" pitchFamily="34" charset="-120"/>
              </a:rPr>
              <a:t>IILM UNIVERSITY</a:t>
            </a:r>
            <a:endParaRPr lang="en-US" sz="2800" dirty="0"/>
          </a:p>
        </p:txBody>
      </p:sp>
      <p:sp>
        <p:nvSpPr>
          <p:cNvPr id="5" name="Text 2"/>
          <p:cNvSpPr txBox="1"/>
          <p:nvPr/>
        </p:nvSpPr>
        <p:spPr>
          <a:xfrm>
            <a:off x="914400" y="2697480"/>
            <a:ext cx="10332720" cy="3657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Greater Noida, Uttar Pradesh</a:t>
            </a:r>
            <a:endParaRPr lang="en-US" sz="1400" dirty="0"/>
          </a:p>
        </p:txBody>
      </p:sp>
      <p:sp>
        <p:nvSpPr>
          <p:cNvPr id="6" name="Shape 3"/>
          <p:cNvSpPr/>
          <p:nvPr/>
        </p:nvSpPr>
        <p:spPr>
          <a:xfrm>
            <a:off x="4709160" y="3246120"/>
            <a:ext cx="2743200" cy="0"/>
          </a:xfrm>
          <a:prstGeom prst="line">
            <a:avLst/>
          </a:prstGeom>
          <a:noFill/>
          <a:ln w="19050">
            <a:solidFill>
              <a:srgbClr val="C9A24B"/>
            </a:solidFill>
            <a:prstDash val="solid"/>
          </a:ln>
        </p:spPr>
        <p:txBody>
          <a:bodyPr/>
          <a:lstStyle/>
          <a:p>
            <a:endParaRPr lang="en-IN"/>
          </a:p>
        </p:txBody>
      </p:sp>
      <p:sp>
        <p:nvSpPr>
          <p:cNvPr id="7" name="Text 4"/>
          <p:cNvSpPr txBox="1"/>
          <p:nvPr/>
        </p:nvSpPr>
        <p:spPr>
          <a:xfrm>
            <a:off x="914400" y="3429000"/>
            <a:ext cx="10332720" cy="457200"/>
          </a:xfrm>
          <a:prstGeom prst="rect">
            <a:avLst/>
          </a:prstGeom>
          <a:noFill/>
          <a:ln/>
        </p:spPr>
        <p:txBody>
          <a:bodyPr wrap="square" lIns="0" tIns="0" rIns="0" bIns="0" rtlCol="0" anchor="ctr"/>
          <a:lstStyle/>
          <a:p>
            <a:pPr marL="0" indent="0" algn="ctr">
              <a:buNone/>
            </a:pPr>
            <a:r>
              <a:rPr lang="en-US" sz="2200" b="1" kern="0" spc="150" dirty="0">
                <a:solidFill>
                  <a:srgbClr val="FFFFFF"/>
                </a:solidFill>
                <a:latin typeface="Cambria" pitchFamily="34" charset="0"/>
                <a:ea typeface="Cambria" pitchFamily="34" charset="-122"/>
                <a:cs typeface="Cambria" pitchFamily="34" charset="-120"/>
              </a:rPr>
              <a:t>INTERNSHIP </a:t>
            </a:r>
            <a:endParaRPr lang="en-US" sz="2200" dirty="0"/>
          </a:p>
        </p:txBody>
      </p:sp>
      <p:sp>
        <p:nvSpPr>
          <p:cNvPr id="8" name="Text 5"/>
          <p:cNvSpPr txBox="1"/>
          <p:nvPr/>
        </p:nvSpPr>
        <p:spPr>
          <a:xfrm>
            <a:off x="914400" y="3886200"/>
            <a:ext cx="10332720" cy="365760"/>
          </a:xfrm>
          <a:prstGeom prst="rect">
            <a:avLst/>
          </a:prstGeom>
          <a:noFill/>
          <a:ln/>
        </p:spPr>
        <p:txBody>
          <a:bodyPr wrap="square" lIns="0" tIns="0" rIns="0" bIns="0" rtlCol="0" anchor="ctr"/>
          <a:lstStyle/>
          <a:p>
            <a:pPr algn="ctr"/>
            <a:r>
              <a:rPr lang="en-US" sz="1600" dirty="0">
                <a:solidFill>
                  <a:schemeClr val="bg1"/>
                </a:solidFill>
              </a:rPr>
              <a:t>IT Systems and Computer Operations Practical Training in the System Department at Central Coalfields Limited (CCL)</a:t>
            </a:r>
          </a:p>
        </p:txBody>
      </p:sp>
      <p:sp>
        <p:nvSpPr>
          <p:cNvPr id="9" name="Text 6"/>
          <p:cNvSpPr txBox="1"/>
          <p:nvPr/>
        </p:nvSpPr>
        <p:spPr>
          <a:xfrm>
            <a:off x="3794760" y="4617720"/>
            <a:ext cx="2103120" cy="32004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Student Name :</a:t>
            </a:r>
            <a:endParaRPr lang="en-US" sz="1400" dirty="0"/>
          </a:p>
        </p:txBody>
      </p:sp>
      <p:sp>
        <p:nvSpPr>
          <p:cNvPr id="10" name="Text 7"/>
          <p:cNvSpPr txBox="1"/>
          <p:nvPr/>
        </p:nvSpPr>
        <p:spPr>
          <a:xfrm>
            <a:off x="6035040" y="4617720"/>
            <a:ext cx="685800" cy="320040"/>
          </a:xfrm>
          <a:prstGeom prst="rect">
            <a:avLst/>
          </a:prstGeom>
          <a:noFill/>
          <a:ln/>
        </p:spPr>
        <p:txBody>
          <a:bodyPr wrap="square" lIns="0" tIns="0" rIns="0" bIns="0" rtlCol="0" anchor="ctr"/>
          <a:lstStyle/>
          <a:p>
            <a:pPr marL="0" indent="0" algn="l">
              <a:buNone/>
            </a:pPr>
            <a:r>
              <a:rPr lang="en-US" sz="1400" b="1" dirty="0" err="1">
                <a:solidFill>
                  <a:srgbClr val="FFFFFF"/>
                </a:solidFill>
                <a:latin typeface="Calibri" pitchFamily="34" charset="0"/>
                <a:ea typeface="Calibri" pitchFamily="34" charset="-122"/>
                <a:cs typeface="Calibri" pitchFamily="34" charset="-120"/>
              </a:rPr>
              <a:t>Shubhraj</a:t>
            </a:r>
            <a:endParaRPr lang="en-US" sz="1400" dirty="0"/>
          </a:p>
        </p:txBody>
      </p:sp>
      <p:sp>
        <p:nvSpPr>
          <p:cNvPr id="11" name="Text 8"/>
          <p:cNvSpPr txBox="1"/>
          <p:nvPr/>
        </p:nvSpPr>
        <p:spPr>
          <a:xfrm>
            <a:off x="3794760" y="4983480"/>
            <a:ext cx="2103120" cy="32004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Enrolment No. :</a:t>
            </a:r>
            <a:endParaRPr lang="en-US" sz="1400" dirty="0"/>
          </a:p>
        </p:txBody>
      </p:sp>
      <p:sp>
        <p:nvSpPr>
          <p:cNvPr id="12" name="Text 9"/>
          <p:cNvSpPr txBox="1"/>
          <p:nvPr/>
        </p:nvSpPr>
        <p:spPr>
          <a:xfrm>
            <a:off x="6035040" y="4983480"/>
            <a:ext cx="25603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2410030269</a:t>
            </a:r>
            <a:endParaRPr lang="en-US" sz="1400" dirty="0"/>
          </a:p>
        </p:txBody>
      </p:sp>
      <p:sp>
        <p:nvSpPr>
          <p:cNvPr id="13" name="Text 10"/>
          <p:cNvSpPr txBox="1"/>
          <p:nvPr/>
        </p:nvSpPr>
        <p:spPr>
          <a:xfrm>
            <a:off x="4724400" y="5334802"/>
            <a:ext cx="716280" cy="32004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Program :</a:t>
            </a:r>
            <a:endParaRPr lang="en-US" sz="1400" dirty="0"/>
          </a:p>
        </p:txBody>
      </p:sp>
      <p:sp>
        <p:nvSpPr>
          <p:cNvPr id="14" name="Text 11"/>
          <p:cNvSpPr txBox="1"/>
          <p:nvPr/>
        </p:nvSpPr>
        <p:spPr>
          <a:xfrm>
            <a:off x="6035040" y="5349240"/>
            <a:ext cx="25603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B.Tech CSE</a:t>
            </a:r>
            <a:endParaRPr lang="en-US" sz="1400" dirty="0"/>
          </a:p>
        </p:txBody>
      </p:sp>
      <p:sp>
        <p:nvSpPr>
          <p:cNvPr id="15" name="Text 12"/>
          <p:cNvSpPr txBox="1"/>
          <p:nvPr/>
        </p:nvSpPr>
        <p:spPr>
          <a:xfrm>
            <a:off x="3657600" y="5715000"/>
            <a:ext cx="2103120" cy="320040"/>
          </a:xfrm>
          <a:prstGeom prst="rect">
            <a:avLst/>
          </a:prstGeom>
          <a:noFill/>
          <a:ln/>
        </p:spPr>
        <p:txBody>
          <a:bodyPr wrap="square" lIns="0" tIns="0" rIns="0" bIns="0" rtlCol="0" anchor="ctr"/>
          <a:lstStyle/>
          <a:p>
            <a:pPr marL="0" indent="0" algn="r">
              <a:buNone/>
            </a:pPr>
            <a:r>
              <a:rPr lang="en-US" sz="1400" dirty="0">
                <a:solidFill>
                  <a:srgbClr val="CADCFC"/>
                </a:solidFill>
                <a:latin typeface="Calibri" pitchFamily="34" charset="0"/>
                <a:ea typeface="Calibri" pitchFamily="34" charset="-122"/>
                <a:cs typeface="Calibri" pitchFamily="34" charset="-120"/>
              </a:rPr>
              <a:t>Organization :</a:t>
            </a:r>
            <a:endParaRPr lang="en-US" sz="1400" dirty="0"/>
          </a:p>
        </p:txBody>
      </p:sp>
      <p:sp>
        <p:nvSpPr>
          <p:cNvPr id="16" name="Text 13"/>
          <p:cNvSpPr txBox="1"/>
          <p:nvPr/>
        </p:nvSpPr>
        <p:spPr>
          <a:xfrm>
            <a:off x="6035040" y="5715000"/>
            <a:ext cx="25603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Central Coalfields Limited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Candidate's Declaration</a:t>
            </a:r>
          </a:p>
        </p:txBody>
      </p:sp>
      <p:sp>
        <p:nvSpPr>
          <p:cNvPr id="11" name="TextBox 10"/>
          <p:cNvSpPr txBox="1"/>
          <p:nvPr/>
        </p:nvSpPr>
        <p:spPr>
          <a:xfrm>
            <a:off x="685800" y="2286000"/>
            <a:ext cx="10789920" cy="2103120"/>
          </a:xfrm>
          <a:prstGeom prst="rect">
            <a:avLst/>
          </a:prstGeom>
          <a:noFill/>
        </p:spPr>
        <p:txBody>
          <a:bodyPr wrap="square">
            <a:spAutoFit/>
          </a:bodyPr>
          <a:lstStyle/>
          <a:p>
            <a:pPr algn="l"/>
            <a:r>
              <a:rPr sz="1900" i="0">
                <a:solidFill>
                  <a:srgbClr val="333333"/>
                </a:solidFill>
                <a:latin typeface="Calibri"/>
              </a:rPr>
              <a:t>I, SHUBHRAJ, hereby declare that the internship report titled "AI Student Performance Prediction System" has been completed by me in fulfilment of the requirement for the award of the degree of Bachelor of Technology in Computer Science and Engineering. All references used have been duly acknowledged, and this report is my own original work, not submitted elsewhere for any other degree or diploma.</a:t>
            </a:r>
          </a:p>
        </p:txBody>
      </p:sp>
      <p:sp>
        <p:nvSpPr>
          <p:cNvPr id="12" name="TextBox 11"/>
          <p:cNvSpPr txBox="1"/>
          <p:nvPr/>
        </p:nvSpPr>
        <p:spPr>
          <a:xfrm>
            <a:off x="685800" y="4663440"/>
            <a:ext cx="10789920" cy="1645920"/>
          </a:xfrm>
          <a:prstGeom prst="rect">
            <a:avLst/>
          </a:prstGeom>
          <a:noFill/>
        </p:spPr>
        <p:txBody>
          <a:bodyPr wrap="square">
            <a:spAutoFit/>
          </a:bodyPr>
          <a:lstStyle/>
          <a:p>
            <a:pPr>
              <a:spcAft>
                <a:spcPts val="800"/>
              </a:spcAft>
            </a:pPr>
            <a:r>
              <a:rPr sz="1700" b="1">
                <a:solidFill>
                  <a:srgbClr val="333333"/>
                </a:solidFill>
                <a:latin typeface="Calibri"/>
              </a:rPr>
              <a:t>Student Name:  SHUBHRAJ</a:t>
            </a:r>
          </a:p>
          <a:p>
            <a:pPr>
              <a:spcAft>
                <a:spcPts val="800"/>
              </a:spcAft>
            </a:pPr>
            <a:r>
              <a:rPr sz="1700" b="1">
                <a:solidFill>
                  <a:srgbClr val="333333"/>
                </a:solidFill>
                <a:latin typeface="Calibri"/>
              </a:rPr>
              <a:t>Roll Number:  2410030269</a:t>
            </a:r>
          </a:p>
          <a:p>
            <a:pPr>
              <a:spcAft>
                <a:spcPts val="800"/>
              </a:spcAft>
            </a:pPr>
            <a:r>
              <a:rPr sz="1700" b="1">
                <a:solidFill>
                  <a:srgbClr val="333333"/>
                </a:solidFill>
                <a:latin typeface="Calibri"/>
              </a:rPr>
              <a:t>Program:  B.Tech CSE</a:t>
            </a:r>
          </a:p>
          <a:p>
            <a:pPr>
              <a:spcAft>
                <a:spcPts val="800"/>
              </a:spcAft>
            </a:pPr>
            <a:r>
              <a:rPr sz="1700" b="1">
                <a:solidFill>
                  <a:srgbClr val="333333"/>
                </a:solidFill>
                <a:latin typeface="Calibri"/>
              </a:rPr>
              <a:t>Batch:  2024 – 2028</a:t>
            </a:r>
          </a:p>
        </p:txBody>
      </p:sp>
    </p:spTree>
    <p:extLst>
      <p:ext uri="{BB962C8B-B14F-4D97-AF65-F5344CB8AC3E}">
        <p14:creationId xmlns:p14="http://schemas.microsoft.com/office/powerpoint/2010/main" val="4245628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Acknowledgement</a:t>
            </a:r>
          </a:p>
        </p:txBody>
      </p:sp>
      <p:sp>
        <p:nvSpPr>
          <p:cNvPr id="11" name="TextBox 10"/>
          <p:cNvSpPr txBox="1"/>
          <p:nvPr/>
        </p:nvSpPr>
        <p:spPr>
          <a:xfrm>
            <a:off x="685800" y="2286000"/>
            <a:ext cx="10789920" cy="1371600"/>
          </a:xfrm>
          <a:prstGeom prst="rect">
            <a:avLst/>
          </a:prstGeom>
          <a:noFill/>
        </p:spPr>
        <p:txBody>
          <a:bodyPr wrap="square">
            <a:spAutoFit/>
          </a:bodyPr>
          <a:lstStyle/>
          <a:p>
            <a:pPr algn="l"/>
            <a:r>
              <a:rPr sz="1800" i="0">
                <a:solidFill>
                  <a:srgbClr val="333333"/>
                </a:solidFill>
                <a:latin typeface="Calibri"/>
              </a:rPr>
              <a:t>I would like to express my sincere gratitude to everyone who supported me throughout my internship at Central Coalfields Limited (CCL), System Department, Hazaribagh Area. Their guidance, constructive feedback and encouragement were invaluable to this work.</a:t>
            </a:r>
          </a:p>
        </p:txBody>
      </p:sp>
      <p:sp>
        <p:nvSpPr>
          <p:cNvPr id="12" name="TextBox 11"/>
          <p:cNvSpPr txBox="1"/>
          <p:nvPr/>
        </p:nvSpPr>
        <p:spPr>
          <a:xfrm>
            <a:off x="685800" y="3657600"/>
            <a:ext cx="10789920" cy="1005840"/>
          </a:xfrm>
          <a:prstGeom prst="rect">
            <a:avLst/>
          </a:prstGeom>
          <a:noFill/>
        </p:spPr>
        <p:txBody>
          <a:bodyPr wrap="square">
            <a:spAutoFit/>
          </a:bodyPr>
          <a:lstStyle/>
          <a:p>
            <a:pPr algn="l"/>
            <a:r>
              <a:rPr sz="1800" i="0">
                <a:solidFill>
                  <a:srgbClr val="333333"/>
                </a:solidFill>
                <a:latin typeface="Calibri"/>
              </a:rPr>
              <a:t>I am especially thankful to Mr. Suraj Kumar, SO (System) In-Charge, Hazaribagh Area, CCL, for his mentorship and for sharing his valuable insights throughout the internship.</a:t>
            </a:r>
          </a:p>
        </p:txBody>
      </p:sp>
      <p:sp>
        <p:nvSpPr>
          <p:cNvPr id="13" name="TextBox 12"/>
          <p:cNvSpPr txBox="1"/>
          <p:nvPr/>
        </p:nvSpPr>
        <p:spPr>
          <a:xfrm>
            <a:off x="685800" y="4663440"/>
            <a:ext cx="10789920" cy="1188720"/>
          </a:xfrm>
          <a:prstGeom prst="rect">
            <a:avLst/>
          </a:prstGeom>
          <a:noFill/>
        </p:spPr>
        <p:txBody>
          <a:bodyPr wrap="square">
            <a:spAutoFit/>
          </a:bodyPr>
          <a:lstStyle/>
          <a:p>
            <a:pPr algn="l"/>
            <a:r>
              <a:rPr sz="1800" i="0">
                <a:solidFill>
                  <a:srgbClr val="333333"/>
                </a:solidFill>
                <a:latin typeface="Calibri"/>
              </a:rPr>
              <a:t>I also extend my gratitude to the faculty of the School of Computer Science and Engineering, IILM University, Greater Noida, for their continuous support, and to my parents for their blessings.</a:t>
            </a:r>
          </a:p>
        </p:txBody>
      </p:sp>
    </p:spTree>
    <p:extLst>
      <p:ext uri="{BB962C8B-B14F-4D97-AF65-F5344CB8AC3E}">
        <p14:creationId xmlns:p14="http://schemas.microsoft.com/office/powerpoint/2010/main" val="4245628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Internship Overview</a:t>
            </a:r>
          </a:p>
        </p:txBody>
      </p:sp>
      <p:sp>
        <p:nvSpPr>
          <p:cNvPr id="11" name="TextBox 10"/>
          <p:cNvSpPr txBox="1"/>
          <p:nvPr/>
        </p:nvSpPr>
        <p:spPr>
          <a:xfrm>
            <a:off x="685800" y="2240280"/>
            <a:ext cx="10789920" cy="4160520"/>
          </a:xfrm>
          <a:prstGeom prst="rect">
            <a:avLst/>
          </a:prstGeom>
          <a:noFill/>
        </p:spPr>
        <p:txBody>
          <a:bodyPr wrap="square">
            <a:spAutoFit/>
          </a:bodyPr>
          <a:lstStyle/>
          <a:p>
            <a:pPr>
              <a:spcAft>
                <a:spcPts val="1000"/>
              </a:spcAft>
            </a:pPr>
            <a:r>
              <a:rPr b="1" sz="1600">
                <a:solidFill>
                  <a:srgbClr val="1E2761"/>
                </a:solidFill>
                <a:latin typeface="Calibri"/>
              </a:rPr>
              <a:t>●  Host Organization: </a:t>
            </a:r>
            <a:r>
              <a:rPr sz="1600">
                <a:solidFill>
                  <a:srgbClr val="333333"/>
                </a:solidFill>
                <a:latin typeface="Calibri"/>
              </a:rPr>
              <a:t>  Central Coalfields Limited (CCL), System Department, Hazaribagh Area, Charhi, Jharkhand</a:t>
            </a:r>
          </a:p>
          <a:p>
            <a:pPr>
              <a:spcAft>
                <a:spcPts val="1000"/>
              </a:spcAft>
            </a:pPr>
            <a:r>
              <a:rPr b="1" sz="1600">
                <a:solidFill>
                  <a:srgbClr val="1E2761"/>
                </a:solidFill>
                <a:latin typeface="Calibri"/>
              </a:rPr>
              <a:t>●  Duration: </a:t>
            </a:r>
            <a:r>
              <a:rPr sz="1600">
                <a:solidFill>
                  <a:srgbClr val="333333"/>
                </a:solidFill>
                <a:latin typeface="Calibri"/>
              </a:rPr>
              <a:t>  Four weeks, from 3rd June 2026 to 3rd July 2026</a:t>
            </a:r>
          </a:p>
          <a:p>
            <a:pPr>
              <a:spcAft>
                <a:spcPts val="1000"/>
              </a:spcAft>
            </a:pPr>
            <a:r>
              <a:rPr b="1" sz="1600">
                <a:solidFill>
                  <a:srgbClr val="1E2761"/>
                </a:solidFill>
                <a:latin typeface="Calibri"/>
              </a:rPr>
              <a:t>●  Mentor: </a:t>
            </a:r>
            <a:r>
              <a:rPr sz="1600">
                <a:solidFill>
                  <a:srgbClr val="333333"/>
                </a:solidFill>
                <a:latin typeface="Calibri"/>
              </a:rPr>
              <a:t>  Mr. Suraj Kumar, SO (System) In-Charge, Hazaribagh Area</a:t>
            </a:r>
          </a:p>
          <a:p>
            <a:pPr>
              <a:spcAft>
                <a:spcPts val="1000"/>
              </a:spcAft>
            </a:pPr>
            <a:r>
              <a:rPr b="1" sz="1600">
                <a:solidFill>
                  <a:srgbClr val="1E2761"/>
                </a:solidFill>
                <a:latin typeface="Calibri"/>
              </a:rPr>
              <a:t>●  Academic Context: </a:t>
            </a:r>
            <a:r>
              <a:rPr sz="1600">
                <a:solidFill>
                  <a:srgbClr val="333333"/>
                </a:solidFill>
                <a:latin typeface="Calibri"/>
              </a:rPr>
              <a:t>  Undertaken as part of the B.Tech CSE curriculum at IILM University, Greater Noida</a:t>
            </a:r>
          </a:p>
          <a:p>
            <a:pPr>
              <a:spcAft>
                <a:spcPts val="1000"/>
              </a:spcAft>
            </a:pPr>
            <a:r>
              <a:rPr b="1" sz="1600">
                <a:solidFill>
                  <a:srgbClr val="1E2761"/>
                </a:solidFill>
                <a:latin typeface="Calibri"/>
              </a:rPr>
              <a:t>●  Exposure Gained: </a:t>
            </a:r>
            <a:r>
              <a:rPr sz="1600">
                <a:solidFill>
                  <a:srgbClr val="333333"/>
                </a:solidFill>
                <a:latin typeface="Calibri"/>
              </a:rPr>
              <a:t>  System maintenance, software handling, data management and routine IT operations &amp; troubleshooting</a:t>
            </a:r>
          </a:p>
          <a:p>
            <a:pPr>
              <a:spcAft>
                <a:spcPts val="1000"/>
              </a:spcAft>
            </a:pPr>
            <a:r>
              <a:rPr b="1" sz="1600">
                <a:solidFill>
                  <a:srgbClr val="1E2761"/>
                </a:solidFill>
                <a:latin typeface="Calibri"/>
              </a:rPr>
              <a:t>●  Project Undertaken: </a:t>
            </a:r>
            <a:r>
              <a:rPr sz="1600">
                <a:solidFill>
                  <a:srgbClr val="333333"/>
                </a:solidFill>
                <a:latin typeface="Calibri"/>
              </a:rPr>
              <a:t>  "AI Student Performance Prediction System" – applying data-driven and machine learning techniques to predict student academic performance</a:t>
            </a:r>
          </a:p>
        </p:txBody>
      </p:sp>
    </p:spTree>
    <p:extLst>
      <p:ext uri="{BB962C8B-B14F-4D97-AF65-F5344CB8AC3E}">
        <p14:creationId xmlns:p14="http://schemas.microsoft.com/office/powerpoint/2010/main" val="4245628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Organization Profile</a:t>
            </a:r>
          </a:p>
        </p:txBody>
      </p:sp>
      <p:sp>
        <p:nvSpPr>
          <p:cNvPr id="11" name="TextBox 10"/>
          <p:cNvSpPr txBox="1"/>
          <p:nvPr/>
        </p:nvSpPr>
        <p:spPr>
          <a:xfrm>
            <a:off x="685800" y="2240280"/>
            <a:ext cx="10789920" cy="4160520"/>
          </a:xfrm>
          <a:prstGeom prst="rect">
            <a:avLst/>
          </a:prstGeom>
          <a:noFill/>
        </p:spPr>
        <p:txBody>
          <a:bodyPr wrap="square">
            <a:spAutoFit/>
          </a:bodyPr>
          <a:lstStyle/>
          <a:p>
            <a:pPr>
              <a:spcAft>
                <a:spcPts val="1000"/>
              </a:spcAft>
            </a:pPr>
            <a:r>
              <a:rPr sz="1800">
                <a:solidFill>
                  <a:srgbClr val="333333"/>
                </a:solidFill>
                <a:latin typeface="Calibri"/>
              </a:rPr>
              <a:t>●  Central Coalfields Limited (CCL) is a leading subsidiary of Coal India Limited (CIL).</a:t>
            </a:r>
          </a:p>
          <a:p>
            <a:pPr>
              <a:spcAft>
                <a:spcPts val="1000"/>
              </a:spcAft>
            </a:pPr>
            <a:r>
              <a:rPr sz="1800">
                <a:solidFill>
                  <a:srgbClr val="333333"/>
                </a:solidFill>
                <a:latin typeface="Calibri"/>
              </a:rPr>
              <a:t>●  CIL is a Maharatna public sector undertaking under the Ministry of Coal, Government of India.</a:t>
            </a:r>
          </a:p>
          <a:p>
            <a:pPr>
              <a:spcAft>
                <a:spcPts val="1000"/>
              </a:spcAft>
            </a:pPr>
            <a:r>
              <a:rPr sz="1800">
                <a:solidFill>
                  <a:srgbClr val="333333"/>
                </a:solidFill>
                <a:latin typeface="Calibri"/>
              </a:rPr>
              <a:t>●  CCL is headquartered in Ranchi, Jharkhand, and engaged in exploration, extraction and production of coal across Jharkhand, including the Hazaribagh Area.</a:t>
            </a:r>
          </a:p>
          <a:p>
            <a:pPr>
              <a:spcAft>
                <a:spcPts val="1000"/>
              </a:spcAft>
            </a:pPr>
            <a:r>
              <a:rPr sz="1800">
                <a:solidFill>
                  <a:srgbClr val="333333"/>
                </a:solidFill>
                <a:latin typeface="Calibri"/>
              </a:rPr>
              <a:t>●  The System Department, Hazaribagh Area, manages computer systems, software infrastructure, data handling and IT-enabled operations.</a:t>
            </a:r>
          </a:p>
          <a:p>
            <a:pPr>
              <a:spcAft>
                <a:spcPts val="1000"/>
              </a:spcAft>
            </a:pPr>
            <a:r>
              <a:rPr sz="1800">
                <a:solidFill>
                  <a:srgbClr val="333333"/>
                </a:solidFill>
                <a:latin typeface="Calibri"/>
              </a:rPr>
              <a:t>●  It ensures smooth day-to-day IT operations, technical troubleshooting and systems support across the area office.</a:t>
            </a:r>
          </a:p>
        </p:txBody>
      </p:sp>
    </p:spTree>
    <p:extLst>
      <p:ext uri="{BB962C8B-B14F-4D97-AF65-F5344CB8AC3E}">
        <p14:creationId xmlns:p14="http://schemas.microsoft.com/office/powerpoint/2010/main" val="4245628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Problem Statement &amp; Objectives</a:t>
            </a:r>
          </a:p>
        </p:txBody>
      </p:sp>
      <p:sp>
        <p:nvSpPr>
          <p:cNvPr id="11" name="TextBox 10"/>
          <p:cNvSpPr txBox="1"/>
          <p:nvPr/>
        </p:nvSpPr>
        <p:spPr>
          <a:xfrm>
            <a:off x="685800" y="2148840"/>
            <a:ext cx="3657600" cy="320040"/>
          </a:xfrm>
          <a:prstGeom prst="rect">
            <a:avLst/>
          </a:prstGeom>
          <a:noFill/>
        </p:spPr>
        <p:txBody>
          <a:bodyPr wrap="square">
            <a:spAutoFit/>
          </a:bodyPr>
          <a:lstStyle/>
          <a:p>
            <a:r>
              <a:rPr sz="1500" b="1">
                <a:solidFill>
                  <a:srgbClr val="1E2761"/>
                </a:solidFill>
                <a:latin typeface="Calibri"/>
              </a:rPr>
              <a:t>Problem Statement</a:t>
            </a:r>
          </a:p>
        </p:txBody>
      </p:sp>
      <p:sp>
        <p:nvSpPr>
          <p:cNvPr id="12" name="TextBox 11"/>
          <p:cNvSpPr txBox="1"/>
          <p:nvPr/>
        </p:nvSpPr>
        <p:spPr>
          <a:xfrm>
            <a:off x="685800" y="2514600"/>
            <a:ext cx="10789920" cy="1554480"/>
          </a:xfrm>
          <a:prstGeom prst="rect">
            <a:avLst/>
          </a:prstGeom>
          <a:noFill/>
        </p:spPr>
        <p:txBody>
          <a:bodyPr wrap="square">
            <a:spAutoFit/>
          </a:bodyPr>
          <a:lstStyle/>
          <a:p>
            <a:pPr algn="l"/>
            <a:r>
              <a:rPr sz="1600" i="0">
                <a:solidFill>
                  <a:srgbClr val="333333"/>
                </a:solidFill>
                <a:latin typeface="Calibri"/>
              </a:rPr>
              <a:t>Educational institutions often rely on manual or ad-hoc methods to track student performance, making it difficult to identify at-risk individuals early or draw insights from historical data. A systematic, data-driven approach is needed to predict future performance and support timely intervention.</a:t>
            </a:r>
          </a:p>
        </p:txBody>
      </p:sp>
      <p:sp>
        <p:nvSpPr>
          <p:cNvPr id="13" name="TextBox 12"/>
          <p:cNvSpPr txBox="1"/>
          <p:nvPr/>
        </p:nvSpPr>
        <p:spPr>
          <a:xfrm>
            <a:off x="685800" y="4160520"/>
            <a:ext cx="3657600" cy="320040"/>
          </a:xfrm>
          <a:prstGeom prst="rect">
            <a:avLst/>
          </a:prstGeom>
          <a:noFill/>
        </p:spPr>
        <p:txBody>
          <a:bodyPr wrap="square">
            <a:spAutoFit/>
          </a:bodyPr>
          <a:lstStyle/>
          <a:p>
            <a:r>
              <a:rPr sz="1500" b="1">
                <a:solidFill>
                  <a:srgbClr val="1E2761"/>
                </a:solidFill>
                <a:latin typeface="Calibri"/>
              </a:rPr>
              <a:t>Project Objectives</a:t>
            </a:r>
          </a:p>
        </p:txBody>
      </p:sp>
      <p:sp>
        <p:nvSpPr>
          <p:cNvPr id="14" name="TextBox 13"/>
          <p:cNvSpPr txBox="1"/>
          <p:nvPr/>
        </p:nvSpPr>
        <p:spPr>
          <a:xfrm>
            <a:off x="685800" y="4526280"/>
            <a:ext cx="10789920" cy="1920240"/>
          </a:xfrm>
          <a:prstGeom prst="rect">
            <a:avLst/>
          </a:prstGeom>
          <a:noFill/>
        </p:spPr>
        <p:txBody>
          <a:bodyPr wrap="square">
            <a:spAutoFit/>
          </a:bodyPr>
          <a:lstStyle/>
          <a:p>
            <a:pPr>
              <a:spcAft>
                <a:spcPts val="1000"/>
              </a:spcAft>
            </a:pPr>
            <a:r>
              <a:rPr sz="1500">
                <a:solidFill>
                  <a:srgbClr val="333333"/>
                </a:solidFill>
                <a:latin typeface="Calibri"/>
              </a:rPr>
              <a:t>●  Study the factors that influence student academic performance</a:t>
            </a:r>
          </a:p>
          <a:p>
            <a:pPr>
              <a:spcAft>
                <a:spcPts val="1000"/>
              </a:spcAft>
            </a:pPr>
            <a:r>
              <a:rPr sz="1500">
                <a:solidFill>
                  <a:srgbClr val="333333"/>
                </a:solidFill>
                <a:latin typeface="Calibri"/>
              </a:rPr>
              <a:t>●  Collect and preprocess relevant academic data for analysis</a:t>
            </a:r>
          </a:p>
          <a:p>
            <a:pPr>
              <a:spcAft>
                <a:spcPts val="1000"/>
              </a:spcAft>
            </a:pPr>
            <a:r>
              <a:rPr sz="1500">
                <a:solidFill>
                  <a:srgbClr val="333333"/>
                </a:solidFill>
                <a:latin typeface="Calibri"/>
              </a:rPr>
              <a:t>●  Design and implement a machine learning model for performance prediction</a:t>
            </a:r>
          </a:p>
          <a:p>
            <a:pPr>
              <a:spcAft>
                <a:spcPts val="1000"/>
              </a:spcAft>
            </a:pPr>
            <a:r>
              <a:rPr sz="1500">
                <a:solidFill>
                  <a:srgbClr val="333333"/>
                </a:solidFill>
                <a:latin typeface="Calibri"/>
              </a:rPr>
              <a:t>●  Evaluate the model using standard evaluation metrics</a:t>
            </a:r>
          </a:p>
          <a:p>
            <a:pPr>
              <a:spcAft>
                <a:spcPts val="1000"/>
              </a:spcAft>
            </a:pPr>
            <a:r>
              <a:rPr sz="1500">
                <a:solidFill>
                  <a:srgbClr val="333333"/>
                </a:solidFill>
                <a:latin typeface="Calibri"/>
              </a:rPr>
              <a:t>●  Present predictions through a simple, interpretable dashboard</a:t>
            </a:r>
          </a:p>
        </p:txBody>
      </p:sp>
    </p:spTree>
    <p:extLst>
      <p:ext uri="{BB962C8B-B14F-4D97-AF65-F5344CB8AC3E}">
        <p14:creationId xmlns:p14="http://schemas.microsoft.com/office/powerpoint/2010/main" val="424562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Scope &amp; Technologies Used</a:t>
            </a:r>
          </a:p>
        </p:txBody>
      </p:sp>
      <p:sp>
        <p:nvSpPr>
          <p:cNvPr id="11" name="TextBox 10"/>
          <p:cNvSpPr txBox="1"/>
          <p:nvPr/>
        </p:nvSpPr>
        <p:spPr>
          <a:xfrm>
            <a:off x="685800" y="2148840"/>
            <a:ext cx="3657600" cy="320040"/>
          </a:xfrm>
          <a:prstGeom prst="rect">
            <a:avLst/>
          </a:prstGeom>
          <a:noFill/>
        </p:spPr>
        <p:txBody>
          <a:bodyPr wrap="square">
            <a:spAutoFit/>
          </a:bodyPr>
          <a:lstStyle/>
          <a:p>
            <a:r>
              <a:rPr sz="1500" b="1">
                <a:solidFill>
                  <a:srgbClr val="1E2761"/>
                </a:solidFill>
                <a:latin typeface="Calibri"/>
              </a:rPr>
              <a:t>Scope of the Project</a:t>
            </a:r>
          </a:p>
        </p:txBody>
      </p:sp>
      <p:sp>
        <p:nvSpPr>
          <p:cNvPr id="12" name="TextBox 11"/>
          <p:cNvSpPr txBox="1"/>
          <p:nvPr/>
        </p:nvSpPr>
        <p:spPr>
          <a:xfrm>
            <a:off x="685800" y="2514600"/>
            <a:ext cx="10789920" cy="1463040"/>
          </a:xfrm>
          <a:prstGeom prst="rect">
            <a:avLst/>
          </a:prstGeom>
          <a:noFill/>
        </p:spPr>
        <p:txBody>
          <a:bodyPr wrap="square">
            <a:spAutoFit/>
          </a:bodyPr>
          <a:lstStyle/>
          <a:p>
            <a:pPr algn="l"/>
            <a:r>
              <a:rPr sz="1550" i="0">
                <a:solidFill>
                  <a:srgbClr val="333333"/>
                </a:solidFill>
                <a:latin typeface="Calibri"/>
              </a:rPr>
              <a:t>The project is limited to building a prototype prediction system that takes academic and related attributes as input and outputs a predicted performance category. It covers the core data pipeline, model development and evaluation – full-scale deployment and real-time data integration are identified as future work.</a:t>
            </a:r>
          </a:p>
        </p:txBody>
      </p:sp>
      <p:sp>
        <p:nvSpPr>
          <p:cNvPr id="13" name="TextBox 12"/>
          <p:cNvSpPr txBox="1"/>
          <p:nvPr/>
        </p:nvSpPr>
        <p:spPr>
          <a:xfrm>
            <a:off x="685800" y="4069080"/>
            <a:ext cx="3657600" cy="320040"/>
          </a:xfrm>
          <a:prstGeom prst="rect">
            <a:avLst/>
          </a:prstGeom>
          <a:noFill/>
        </p:spPr>
        <p:txBody>
          <a:bodyPr wrap="square">
            <a:spAutoFit/>
          </a:bodyPr>
          <a:lstStyle/>
          <a:p>
            <a:r>
              <a:rPr sz="1500" b="1">
                <a:solidFill>
                  <a:srgbClr val="1E2761"/>
                </a:solidFill>
                <a:latin typeface="Calibri"/>
              </a:rPr>
              <a:t>Technologies and Tools Used</a:t>
            </a:r>
          </a:p>
        </p:txBody>
      </p:sp>
      <p:graphicFrame>
        <p:nvGraphicFramePr>
          <p:cNvPr id="14" name="Table 13"/>
          <p:cNvGraphicFramePr>
            <a:graphicFrameLocks noGrp="1"/>
          </p:cNvGraphicFramePr>
          <p:nvPr/>
        </p:nvGraphicFramePr>
        <p:xfrm>
          <a:off x="685800" y="4434840"/>
          <a:ext cx="10789919" cy="1965960"/>
        </p:xfrm>
        <a:graphic>
          <a:graphicData uri="http://schemas.openxmlformats.org/drawingml/2006/table">
            <a:tbl>
              <a:tblPr firstRow="1" bandRow="1">
                <a:tableStyleId>{5C22544A-7EE6-4342-B048-85BDC9FD1C3A}</a:tableStyleId>
              </a:tblPr>
              <a:tblGrid>
                <a:gridCol w="3291840"/>
                <a:gridCol w="7498079"/>
              </a:tblGrid>
              <a:tr h="327660">
                <a:tc>
                  <a:txBody>
                    <a:bodyPr/>
                    <a:lstStyle/>
                    <a:p>
                      <a:r>
                        <a:rPr b="1" sz="1400">
                          <a:solidFill>
                            <a:srgbClr val="FFFFFF"/>
                          </a:solidFill>
                        </a:rPr>
                        <a:t>Technology / Tool</a:t>
                      </a:r>
                    </a:p>
                  </a:txBody>
                  <a:tcPr anchor="ctr">
                    <a:solidFill>
                      <a:srgbClr val="1E2761"/>
                    </a:solidFill>
                  </a:tcPr>
                </a:tc>
                <a:tc>
                  <a:txBody>
                    <a:bodyPr/>
                    <a:lstStyle/>
                    <a:p>
                      <a:r>
                        <a:rPr b="1" sz="1400">
                          <a:solidFill>
                            <a:srgbClr val="FFFFFF"/>
                          </a:solidFill>
                        </a:rPr>
                        <a:t>Purpose</a:t>
                      </a:r>
                    </a:p>
                  </a:txBody>
                  <a:tcPr anchor="ctr">
                    <a:solidFill>
                      <a:srgbClr val="1E2761"/>
                    </a:solidFill>
                  </a:tcPr>
                </a:tc>
              </a:tr>
              <a:tr h="327660">
                <a:tc>
                  <a:txBody>
                    <a:bodyPr/>
                    <a:lstStyle/>
                    <a:p>
                      <a:r>
                        <a:rPr sz="1300" b="1">
                          <a:solidFill>
                            <a:srgbClr val="333333"/>
                          </a:solidFill>
                        </a:rPr>
                        <a:t>Python</a:t>
                      </a:r>
                    </a:p>
                  </a:txBody>
                  <a:tcPr anchor="ctr">
                    <a:solidFill>
                      <a:srgbClr val="F3F6FC"/>
                    </a:solidFill>
                  </a:tcPr>
                </a:tc>
                <a:tc>
                  <a:txBody>
                    <a:bodyPr/>
                    <a:lstStyle/>
                    <a:p>
                      <a:r>
                        <a:rPr sz="1300" b="0">
                          <a:solidFill>
                            <a:srgbClr val="333333"/>
                          </a:solidFill>
                        </a:rPr>
                        <a:t>Core programming language for data processing and model development</a:t>
                      </a:r>
                    </a:p>
                  </a:txBody>
                  <a:tcPr anchor="ctr">
                    <a:solidFill>
                      <a:srgbClr val="F3F6FC"/>
                    </a:solidFill>
                  </a:tcPr>
                </a:tc>
              </a:tr>
              <a:tr h="327660">
                <a:tc>
                  <a:txBody>
                    <a:bodyPr/>
                    <a:lstStyle/>
                    <a:p>
                      <a:r>
                        <a:rPr sz="1300" b="1">
                          <a:solidFill>
                            <a:srgbClr val="333333"/>
                          </a:solidFill>
                        </a:rPr>
                        <a:t>Pandas / NumPy</a:t>
                      </a:r>
                    </a:p>
                  </a:txBody>
                  <a:tcPr anchor="ctr">
                    <a:solidFill>
                      <a:srgbClr val="FFFFFF"/>
                    </a:solidFill>
                  </a:tcPr>
                </a:tc>
                <a:tc>
                  <a:txBody>
                    <a:bodyPr/>
                    <a:lstStyle/>
                    <a:p>
                      <a:r>
                        <a:rPr sz="1300" b="0">
                          <a:solidFill>
                            <a:srgbClr val="333333"/>
                          </a:solidFill>
                        </a:rPr>
                        <a:t>Data handling, cleaning and numerical computation</a:t>
                      </a:r>
                    </a:p>
                  </a:txBody>
                  <a:tcPr anchor="ctr">
                    <a:solidFill>
                      <a:srgbClr val="FFFFFF"/>
                    </a:solidFill>
                  </a:tcPr>
                </a:tc>
              </a:tr>
              <a:tr h="327660">
                <a:tc>
                  <a:txBody>
                    <a:bodyPr/>
                    <a:lstStyle/>
                    <a:p>
                      <a:r>
                        <a:rPr sz="1300" b="1">
                          <a:solidFill>
                            <a:srgbClr val="333333"/>
                          </a:solidFill>
                        </a:rPr>
                        <a:t>Scikit-learn</a:t>
                      </a:r>
                    </a:p>
                  </a:txBody>
                  <a:tcPr anchor="ctr">
                    <a:solidFill>
                      <a:srgbClr val="F3F6FC"/>
                    </a:solidFill>
                  </a:tcPr>
                </a:tc>
                <a:tc>
                  <a:txBody>
                    <a:bodyPr/>
                    <a:lstStyle/>
                    <a:p>
                      <a:r>
                        <a:rPr sz="1300" b="0">
                          <a:solidFill>
                            <a:srgbClr val="333333"/>
                          </a:solidFill>
                        </a:rPr>
                        <a:t>Building and evaluating machine learning models</a:t>
                      </a:r>
                    </a:p>
                  </a:txBody>
                  <a:tcPr anchor="ctr">
                    <a:solidFill>
                      <a:srgbClr val="F3F6FC"/>
                    </a:solidFill>
                  </a:tcPr>
                </a:tc>
              </a:tr>
              <a:tr h="327660">
                <a:tc>
                  <a:txBody>
                    <a:bodyPr/>
                    <a:lstStyle/>
                    <a:p>
                      <a:r>
                        <a:rPr sz="1300" b="1">
                          <a:solidFill>
                            <a:srgbClr val="333333"/>
                          </a:solidFill>
                        </a:rPr>
                        <a:t>Matplotlib / Seaborn</a:t>
                      </a:r>
                    </a:p>
                  </a:txBody>
                  <a:tcPr anchor="ctr">
                    <a:solidFill>
                      <a:srgbClr val="FFFFFF"/>
                    </a:solidFill>
                  </a:tcPr>
                </a:tc>
                <a:tc>
                  <a:txBody>
                    <a:bodyPr/>
                    <a:lstStyle/>
                    <a:p>
                      <a:r>
                        <a:rPr sz="1300" b="0">
                          <a:solidFill>
                            <a:srgbClr val="333333"/>
                          </a:solidFill>
                        </a:rPr>
                        <a:t>Data visualization and result analysis</a:t>
                      </a:r>
                    </a:p>
                  </a:txBody>
                  <a:tcPr anchor="ctr">
                    <a:solidFill>
                      <a:srgbClr val="FFFFFF"/>
                    </a:solidFill>
                  </a:tcPr>
                </a:tc>
              </a:tr>
              <a:tr h="327660">
                <a:tc>
                  <a:txBody>
                    <a:bodyPr/>
                    <a:lstStyle/>
                    <a:p>
                      <a:r>
                        <a:rPr sz="1300" b="1">
                          <a:solidFill>
                            <a:srgbClr val="333333"/>
                          </a:solidFill>
                        </a:rPr>
                        <a:t>Jupyter Notebook</a:t>
                      </a:r>
                    </a:p>
                  </a:txBody>
                  <a:tcPr anchor="ctr">
                    <a:solidFill>
                      <a:srgbClr val="F3F6FC"/>
                    </a:solidFill>
                  </a:tcPr>
                </a:tc>
                <a:tc>
                  <a:txBody>
                    <a:bodyPr/>
                    <a:lstStyle/>
                    <a:p>
                      <a:r>
                        <a:rPr sz="1300" b="0">
                          <a:solidFill>
                            <a:srgbClr val="333333"/>
                          </a:solidFill>
                        </a:rPr>
                        <a:t>Interactive development and experimentation</a:t>
                      </a:r>
                    </a:p>
                  </a:txBody>
                  <a:tcPr anchor="ctr">
                    <a:solidFill>
                      <a:srgbClr val="F3F6FC"/>
                    </a:solidFill>
                  </a:tcPr>
                </a:tc>
              </a:tr>
            </a:tbl>
          </a:graphicData>
        </a:graphic>
      </p:graphicFrame>
    </p:spTree>
    <p:extLst>
      <p:ext uri="{BB962C8B-B14F-4D97-AF65-F5344CB8AC3E}">
        <p14:creationId xmlns:p14="http://schemas.microsoft.com/office/powerpoint/2010/main" val="4245628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System Architecture</a:t>
            </a:r>
          </a:p>
        </p:txBody>
      </p:sp>
      <p:sp>
        <p:nvSpPr>
          <p:cNvPr id="11" name="TextBox 10"/>
          <p:cNvSpPr txBox="1"/>
          <p:nvPr/>
        </p:nvSpPr>
        <p:spPr>
          <a:xfrm>
            <a:off x="685800" y="2240280"/>
            <a:ext cx="10789920" cy="914400"/>
          </a:xfrm>
          <a:prstGeom prst="rect">
            <a:avLst/>
          </a:prstGeom>
          <a:noFill/>
        </p:spPr>
        <p:txBody>
          <a:bodyPr wrap="square">
            <a:spAutoFit/>
          </a:bodyPr>
          <a:lstStyle/>
          <a:p>
            <a:pPr algn="l"/>
            <a:r>
              <a:rPr sz="1700" i="0">
                <a:solidFill>
                  <a:srgbClr val="333333"/>
                </a:solidFill>
                <a:latin typeface="Calibri"/>
              </a:rPr>
              <a:t>The system follows a linear data pipeline architecture consisting of five stages – from data collection through to final prediction and presentation of results.</a:t>
            </a:r>
          </a:p>
        </p:txBody>
      </p:sp>
      <p:pic>
        <p:nvPicPr>
          <p:cNvPr id="12" name="Picture 11" descr="arch_diagram.png"/>
          <p:cNvPicPr>
            <a:picLocks noChangeAspect="1"/>
          </p:cNvPicPr>
          <p:nvPr/>
        </p:nvPicPr>
        <p:blipFill>
          <a:blip r:embed="rId3"/>
          <a:stretch>
            <a:fillRect/>
          </a:stretch>
        </p:blipFill>
        <p:spPr>
          <a:xfrm>
            <a:off x="2597150" y="3383280"/>
            <a:ext cx="6997700" cy="2651760"/>
          </a:xfrm>
          <a:prstGeom prst="rect">
            <a:avLst/>
          </a:prstGeom>
        </p:spPr>
      </p:pic>
      <p:sp>
        <p:nvSpPr>
          <p:cNvPr id="13" name="TextBox 12"/>
          <p:cNvSpPr txBox="1"/>
          <p:nvPr/>
        </p:nvSpPr>
        <p:spPr>
          <a:xfrm>
            <a:off x="685800" y="6217920"/>
            <a:ext cx="10789920" cy="365760"/>
          </a:xfrm>
          <a:prstGeom prst="rect">
            <a:avLst/>
          </a:prstGeom>
          <a:noFill/>
        </p:spPr>
        <p:txBody>
          <a:bodyPr wrap="square">
            <a:spAutoFit/>
          </a:bodyPr>
          <a:lstStyle/>
          <a:p>
            <a:pPr algn="ctr"/>
            <a:r>
              <a:rPr sz="1300" i="1">
                <a:solidFill>
                  <a:srgbClr val="333333"/>
                </a:solidFill>
                <a:latin typeface="Calibri"/>
              </a:rPr>
              <a:t>Figure: System Architecture of the AI Student Performance Prediction System</a:t>
            </a:r>
          </a:p>
        </p:txBody>
      </p:sp>
    </p:spTree>
    <p:extLst>
      <p:ext uri="{BB962C8B-B14F-4D97-AF65-F5344CB8AC3E}">
        <p14:creationId xmlns:p14="http://schemas.microsoft.com/office/powerpoint/2010/main" val="4245628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Methodology</a:t>
            </a:r>
          </a:p>
        </p:txBody>
      </p:sp>
      <p:sp>
        <p:nvSpPr>
          <p:cNvPr id="11" name="TextBox 10"/>
          <p:cNvSpPr txBox="1"/>
          <p:nvPr/>
        </p:nvSpPr>
        <p:spPr>
          <a:xfrm>
            <a:off x="685800" y="2240280"/>
            <a:ext cx="10789920" cy="4160520"/>
          </a:xfrm>
          <a:prstGeom prst="rect">
            <a:avLst/>
          </a:prstGeom>
          <a:noFill/>
        </p:spPr>
        <p:txBody>
          <a:bodyPr wrap="square">
            <a:spAutoFit/>
          </a:bodyPr>
          <a:lstStyle/>
          <a:p>
            <a:pPr>
              <a:spcAft>
                <a:spcPts val="1000"/>
              </a:spcAft>
            </a:pPr>
            <a:r>
              <a:rPr b="1" sz="1550">
                <a:solidFill>
                  <a:srgbClr val="1E2761"/>
                </a:solidFill>
                <a:latin typeface="Calibri"/>
              </a:rPr>
              <a:t>●  Data Collection: </a:t>
            </a:r>
            <a:r>
              <a:rPr sz="1550">
                <a:solidFill>
                  <a:srgbClr val="333333"/>
                </a:solidFill>
                <a:latin typeface="Calibri"/>
              </a:rPr>
              <a:t>  Relevant student academic and demographic data were gathered / simulated for the study.</a:t>
            </a:r>
          </a:p>
          <a:p>
            <a:pPr>
              <a:spcAft>
                <a:spcPts val="1000"/>
              </a:spcAft>
            </a:pPr>
            <a:r>
              <a:rPr b="1" sz="1550">
                <a:solidFill>
                  <a:srgbClr val="1E2761"/>
                </a:solidFill>
                <a:latin typeface="Calibri"/>
              </a:rPr>
              <a:t>●  Data Preprocessing: </a:t>
            </a:r>
            <a:r>
              <a:rPr sz="1550">
                <a:solidFill>
                  <a:srgbClr val="333333"/>
                </a:solidFill>
                <a:latin typeface="Calibri"/>
              </a:rPr>
              <a:t>  The collected data was cleaned to handle missing values, inconsistencies and outliers.</a:t>
            </a:r>
          </a:p>
          <a:p>
            <a:pPr>
              <a:spcAft>
                <a:spcPts val="1000"/>
              </a:spcAft>
            </a:pPr>
            <a:r>
              <a:rPr b="1" sz="1550">
                <a:solidFill>
                  <a:srgbClr val="1E2761"/>
                </a:solidFill>
                <a:latin typeface="Calibri"/>
              </a:rPr>
              <a:t>●  Feature Engineering: </a:t>
            </a:r>
            <a:r>
              <a:rPr sz="1550">
                <a:solidFill>
                  <a:srgbClr val="333333"/>
                </a:solidFill>
                <a:latin typeface="Calibri"/>
              </a:rPr>
              <a:t>  Relevant features affecting student performance were identified and encoded for model consumption.</a:t>
            </a:r>
          </a:p>
          <a:p>
            <a:pPr>
              <a:spcAft>
                <a:spcPts val="1000"/>
              </a:spcAft>
            </a:pPr>
            <a:r>
              <a:rPr b="1" sz="1550">
                <a:solidFill>
                  <a:srgbClr val="1E2761"/>
                </a:solidFill>
                <a:latin typeface="Calibri"/>
              </a:rPr>
              <a:t>●  Model Selection &amp; Training: </a:t>
            </a:r>
            <a:r>
              <a:rPr sz="1550">
                <a:solidFill>
                  <a:srgbClr val="333333"/>
                </a:solidFill>
                <a:latin typeface="Calibri"/>
              </a:rPr>
              <a:t>  Suitable machine learning algorithms were selected and trained on the processed dataset.</a:t>
            </a:r>
          </a:p>
          <a:p>
            <a:pPr>
              <a:spcAft>
                <a:spcPts val="1000"/>
              </a:spcAft>
            </a:pPr>
            <a:r>
              <a:rPr b="1" sz="1550">
                <a:solidFill>
                  <a:srgbClr val="1E2761"/>
                </a:solidFill>
                <a:latin typeface="Calibri"/>
              </a:rPr>
              <a:t>●  Evaluation: </a:t>
            </a:r>
            <a:r>
              <a:rPr sz="1550">
                <a:solidFill>
                  <a:srgbClr val="333333"/>
                </a:solidFill>
                <a:latin typeface="Calibri"/>
              </a:rPr>
              <a:t>  The trained model was evaluated using metrics such as accuracy, precision/recall, or RMSE.</a:t>
            </a:r>
          </a:p>
          <a:p>
            <a:pPr>
              <a:spcAft>
                <a:spcPts val="1000"/>
              </a:spcAft>
            </a:pPr>
            <a:r>
              <a:rPr b="1" sz="1550">
                <a:solidFill>
                  <a:srgbClr val="1E2761"/>
                </a:solidFill>
                <a:latin typeface="Calibri"/>
              </a:rPr>
              <a:t>●  Deployment / Presentation: </a:t>
            </a:r>
            <a:r>
              <a:rPr sz="1550">
                <a:solidFill>
                  <a:srgbClr val="333333"/>
                </a:solidFill>
                <a:latin typeface="Calibri"/>
              </a:rPr>
              <a:t>  The final predictions were presented through a simple, interpretable output for end users.</a:t>
            </a:r>
          </a:p>
        </p:txBody>
      </p:sp>
    </p:spTree>
    <p:extLst>
      <p:ext uri="{BB962C8B-B14F-4D97-AF65-F5344CB8AC3E}">
        <p14:creationId xmlns:p14="http://schemas.microsoft.com/office/powerpoint/2010/main" val="4245628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assets/logo.png">
            <a:extLst>
              <a:ext uri="{FF2B5EF4-FFF2-40B4-BE49-F238E27FC236}">
                <a16:creationId xmlns:a16="http://schemas.microsoft.com/office/drawing/2014/main" id="{8E0BC7BE-DBC3-20B5-F540-C3C114904D47}"/>
              </a:ext>
            </a:extLst>
          </p:cNvPr>
          <p:cNvPicPr>
            <a:picLocks noChangeAspect="1"/>
          </p:cNvPicPr>
          <p:nvPr/>
        </p:nvPicPr>
        <p:blipFill>
          <a:blip r:embed="rId2"/>
          <a:stretch>
            <a:fillRect/>
          </a:stretch>
        </p:blipFill>
        <p:spPr>
          <a:xfrm>
            <a:off x="331270" y="246888"/>
            <a:ext cx="1208772" cy="1174236"/>
          </a:xfrm>
          <a:prstGeom prst="rect">
            <a:avLst/>
          </a:prstGeom>
        </p:spPr>
      </p:pic>
      <p:sp>
        <p:nvSpPr>
          <p:cNvPr id="5" name="Shape 0">
            <a:extLst>
              <a:ext uri="{FF2B5EF4-FFF2-40B4-BE49-F238E27FC236}">
                <a16:creationId xmlns:a16="http://schemas.microsoft.com/office/drawing/2014/main" id="{FE075D9F-DAA5-B2BF-2A0B-CE5F56602BEB}"/>
              </a:ext>
            </a:extLst>
          </p:cNvPr>
          <p:cNvSpPr/>
          <p:nvPr/>
        </p:nvSpPr>
        <p:spPr>
          <a:xfrm>
            <a:off x="216568" y="136357"/>
            <a:ext cx="11758864" cy="6593305"/>
          </a:xfrm>
          <a:prstGeom prst="rect">
            <a:avLst/>
          </a:prstGeom>
          <a:ln w="15875">
            <a:solidFill>
              <a:srgbClr val="CADCFC"/>
            </a:solidFill>
            <a:prstDash val="solid"/>
          </a:ln>
        </p:spPr>
        <p:txBody>
          <a:bodyPr/>
          <a:lstStyle/>
          <a:p>
            <a:endParaRPr lang="en-IN"/>
          </a:p>
        </p:txBody>
      </p:sp>
      <p:sp>
        <p:nvSpPr>
          <p:cNvPr id="9" name="Text 1">
            <a:extLst>
              <a:ext uri="{FF2B5EF4-FFF2-40B4-BE49-F238E27FC236}">
                <a16:creationId xmlns:a16="http://schemas.microsoft.com/office/drawing/2014/main" id="{8EF03B49-0652-E8F0-496B-A9E250A32AA8}"/>
              </a:ext>
            </a:extLst>
          </p:cNvPr>
          <p:cNvSpPr txBox="1"/>
          <p:nvPr/>
        </p:nvSpPr>
        <p:spPr>
          <a:xfrm>
            <a:off x="8590547" y="285229"/>
            <a:ext cx="3270183" cy="356455"/>
          </a:xfrm>
          <a:prstGeom prst="rect">
            <a:avLst/>
          </a:prstGeom>
          <a:noFill/>
          <a:ln/>
        </p:spPr>
        <p:txBody>
          <a:bodyPr wrap="square" lIns="0" tIns="0" rIns="0" bIns="0" rtlCol="0" anchor="ctr"/>
          <a:lstStyle/>
          <a:p>
            <a:pPr marL="0" indent="0" algn="ctr">
              <a:buNone/>
            </a:pPr>
            <a:r>
              <a:rPr lang="en-US" sz="2800" b="1" kern="0" spc="200" dirty="0">
                <a:latin typeface="Cambria" pitchFamily="34" charset="0"/>
                <a:ea typeface="Cambria" pitchFamily="34" charset="-122"/>
                <a:cs typeface="Cambria" pitchFamily="34" charset="-120"/>
              </a:rPr>
              <a:t>IILM UNIVERSITY</a:t>
            </a:r>
            <a:endParaRPr lang="en-US" sz="2800" dirty="0"/>
          </a:p>
        </p:txBody>
      </p:sp>
      <p:sp>
        <p:nvSpPr>
          <p:cNvPr id="10" name="TextBox 9"/>
          <p:cNvSpPr txBox="1"/>
          <p:nvPr/>
        </p:nvSpPr>
        <p:spPr>
          <a:xfrm>
            <a:off x="685800" y="1481328"/>
            <a:ext cx="10789920" cy="548640"/>
          </a:xfrm>
          <a:prstGeom prst="rect">
            <a:avLst/>
          </a:prstGeom>
          <a:noFill/>
        </p:spPr>
        <p:txBody>
          <a:bodyPr wrap="square">
            <a:spAutoFit/>
          </a:bodyPr>
          <a:lstStyle/>
          <a:p>
            <a:r>
              <a:rPr sz="2800" b="1">
                <a:solidFill>
                  <a:srgbClr val="1E2761"/>
                </a:solidFill>
                <a:latin typeface="Cambria"/>
              </a:rPr>
              <a:t>Expected Outcomes &amp; References</a:t>
            </a:r>
          </a:p>
        </p:txBody>
      </p:sp>
      <p:sp>
        <p:nvSpPr>
          <p:cNvPr id="11" name="TextBox 10"/>
          <p:cNvSpPr txBox="1"/>
          <p:nvPr/>
        </p:nvSpPr>
        <p:spPr>
          <a:xfrm>
            <a:off x="685800" y="2148840"/>
            <a:ext cx="5120640" cy="320040"/>
          </a:xfrm>
          <a:prstGeom prst="rect">
            <a:avLst/>
          </a:prstGeom>
          <a:noFill/>
        </p:spPr>
        <p:txBody>
          <a:bodyPr wrap="square">
            <a:spAutoFit/>
          </a:bodyPr>
          <a:lstStyle/>
          <a:p>
            <a:r>
              <a:rPr sz="1500" b="1">
                <a:solidFill>
                  <a:srgbClr val="1E2761"/>
                </a:solidFill>
                <a:latin typeface="Calibri"/>
              </a:rPr>
              <a:t>Expected Outcomes</a:t>
            </a:r>
          </a:p>
        </p:txBody>
      </p:sp>
      <p:sp>
        <p:nvSpPr>
          <p:cNvPr id="12" name="TextBox 11"/>
          <p:cNvSpPr txBox="1"/>
          <p:nvPr/>
        </p:nvSpPr>
        <p:spPr>
          <a:xfrm>
            <a:off x="685800" y="2542032"/>
            <a:ext cx="5120640" cy="3840480"/>
          </a:xfrm>
          <a:prstGeom prst="rect">
            <a:avLst/>
          </a:prstGeom>
          <a:noFill/>
        </p:spPr>
        <p:txBody>
          <a:bodyPr wrap="square">
            <a:spAutoFit/>
          </a:bodyPr>
          <a:lstStyle/>
          <a:p>
            <a:pPr>
              <a:spcAft>
                <a:spcPts val="1000"/>
              </a:spcAft>
            </a:pPr>
            <a:r>
              <a:rPr sz="1400">
                <a:solidFill>
                  <a:srgbClr val="333333"/>
                </a:solidFill>
                <a:latin typeface="Calibri"/>
              </a:rPr>
              <a:t>●  A working prototype capable of predicting student performance from academic data</a:t>
            </a:r>
          </a:p>
          <a:p>
            <a:pPr>
              <a:spcAft>
                <a:spcPts val="1000"/>
              </a:spcAft>
            </a:pPr>
            <a:r>
              <a:rPr sz="1400">
                <a:solidFill>
                  <a:srgbClr val="333333"/>
                </a:solidFill>
                <a:latin typeface="Calibri"/>
              </a:rPr>
              <a:t>●  Early identification of students who may need additional academic support</a:t>
            </a:r>
          </a:p>
          <a:p>
            <a:pPr>
              <a:spcAft>
                <a:spcPts val="1000"/>
              </a:spcAft>
            </a:pPr>
            <a:r>
              <a:rPr sz="1400">
                <a:solidFill>
                  <a:srgbClr val="333333"/>
                </a:solidFill>
                <a:latin typeface="Calibri"/>
              </a:rPr>
              <a:t>●  Improved understanding of the key factors influencing student performance</a:t>
            </a:r>
          </a:p>
          <a:p>
            <a:pPr>
              <a:spcAft>
                <a:spcPts val="1000"/>
              </a:spcAft>
            </a:pPr>
            <a:r>
              <a:rPr sz="1400">
                <a:solidFill>
                  <a:srgbClr val="333333"/>
                </a:solidFill>
                <a:latin typeface="Calibri"/>
              </a:rPr>
              <a:t>●  A foundation for a future, fully deployable, institution-wide prediction system</a:t>
            </a:r>
          </a:p>
        </p:txBody>
      </p:sp>
      <p:sp>
        <p:nvSpPr>
          <p:cNvPr id="13" name="TextBox 12"/>
          <p:cNvSpPr txBox="1"/>
          <p:nvPr/>
        </p:nvSpPr>
        <p:spPr>
          <a:xfrm>
            <a:off x="6172200" y="2148840"/>
            <a:ext cx="4846320" cy="320040"/>
          </a:xfrm>
          <a:prstGeom prst="rect">
            <a:avLst/>
          </a:prstGeom>
          <a:noFill/>
        </p:spPr>
        <p:txBody>
          <a:bodyPr wrap="square">
            <a:spAutoFit/>
          </a:bodyPr>
          <a:lstStyle/>
          <a:p>
            <a:r>
              <a:rPr sz="1500" b="1">
                <a:solidFill>
                  <a:srgbClr val="1E2761"/>
                </a:solidFill>
                <a:latin typeface="Calibri"/>
              </a:rPr>
              <a:t>References</a:t>
            </a:r>
          </a:p>
        </p:txBody>
      </p:sp>
      <p:sp>
        <p:nvSpPr>
          <p:cNvPr id="14" name="TextBox 13"/>
          <p:cNvSpPr txBox="1"/>
          <p:nvPr/>
        </p:nvSpPr>
        <p:spPr>
          <a:xfrm>
            <a:off x="6172200" y="2542032"/>
            <a:ext cx="4846320" cy="3840480"/>
          </a:xfrm>
          <a:prstGeom prst="rect">
            <a:avLst/>
          </a:prstGeom>
          <a:noFill/>
        </p:spPr>
        <p:txBody>
          <a:bodyPr wrap="square">
            <a:spAutoFit/>
          </a:bodyPr>
          <a:lstStyle/>
          <a:p>
            <a:pPr>
              <a:spcAft>
                <a:spcPts val="1000"/>
              </a:spcAft>
            </a:pPr>
            <a:r>
              <a:rPr sz="1350">
                <a:solidFill>
                  <a:srgbClr val="333333"/>
                </a:solidFill>
                <a:latin typeface="Calibri"/>
              </a:rPr>
              <a:t>●  Central Coalfields Limited – Official Website (centralcoalfields.in)</a:t>
            </a:r>
          </a:p>
          <a:p>
            <a:pPr>
              <a:spcAft>
                <a:spcPts val="1000"/>
              </a:spcAft>
            </a:pPr>
            <a:r>
              <a:rPr sz="1350">
                <a:solidFill>
                  <a:srgbClr val="333333"/>
                </a:solidFill>
                <a:latin typeface="Calibri"/>
              </a:rPr>
              <a:t>●  Coal India Limited – Official Website (coalindia.in)</a:t>
            </a:r>
          </a:p>
          <a:p>
            <a:pPr>
              <a:spcAft>
                <a:spcPts val="1000"/>
              </a:spcAft>
            </a:pPr>
            <a:r>
              <a:rPr sz="1350">
                <a:solidFill>
                  <a:srgbClr val="333333"/>
                </a:solidFill>
                <a:latin typeface="Calibri"/>
              </a:rPr>
              <a:t>●  Pandas Documentation (pandas.pydata.org/docs)</a:t>
            </a:r>
          </a:p>
          <a:p>
            <a:pPr>
              <a:spcAft>
                <a:spcPts val="1000"/>
              </a:spcAft>
            </a:pPr>
            <a:r>
              <a:rPr sz="1350">
                <a:solidFill>
                  <a:srgbClr val="333333"/>
                </a:solidFill>
                <a:latin typeface="Calibri"/>
              </a:rPr>
              <a:t>●  Scikit-learn Documentation (scikit-learn.org)</a:t>
            </a:r>
          </a:p>
          <a:p>
            <a:pPr>
              <a:spcAft>
                <a:spcPts val="1000"/>
              </a:spcAft>
            </a:pPr>
            <a:r>
              <a:rPr sz="1350">
                <a:solidFill>
                  <a:srgbClr val="333333"/>
                </a:solidFill>
                <a:latin typeface="Calibri"/>
              </a:rPr>
              <a:t>●  Python Software Foundation – Python Documentation (docs.python.org/3)</a:t>
            </a:r>
          </a:p>
        </p:txBody>
      </p:sp>
    </p:spTree>
    <p:extLst>
      <p:ext uri="{BB962C8B-B14F-4D97-AF65-F5344CB8AC3E}">
        <p14:creationId xmlns:p14="http://schemas.microsoft.com/office/powerpoint/2010/main" val="4245628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44</Words>
  <Application>Microsoft Office PowerPoint</Application>
  <PresentationFormat>Widescreen</PresentationFormat>
  <Paragraphs>14</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Mayank Raj</cp:lastModifiedBy>
  <cp:revision>2</cp:revision>
  <dcterms:created xsi:type="dcterms:W3CDTF">2026-08-29T20:01:19Z</dcterms:created>
  <dcterms:modified xsi:type="dcterms:W3CDTF">2026-08-30T08:20:21Z</dcterms:modified>
</cp:coreProperties>
</file>